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開場：專案目標是用時間序列基礎模型做零樣本流感預測，不訓練模型，靠回測驗證可信度，並把結果做成每週更新的線上 dashboard。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強調：模型完全零樣本；所有比較都在同一組 415 個起點上；COVID 期（2020–2022）不做決策依據但保留在 context。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圖：WIS 隨 horizon 上升，但最佳設定在每個 horizon 都低於基準。表：MAPE 10.5% 對 naive 13.1%。強調校準：涵蓋率接近名目值。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左圖：1 週前預測貼合實際，區間涵蓋大多數週，2025 年初春節週的極端下降只被部分捕捉。右圖：22 縣市聯合預測每個縣市都優於 naive，離島增益最小。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說明這是自動判讀：規則從最新面板與 9 個分位數推得走勢形狀、觸頂週、續升機率與閾值機率。提醒觀眾 1–2 週最可靠、高流行週偏保守。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收尾：三個網址；每週更新流程；授權與資料回補是上線前要解決的兩件事。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C9B1"/>
                </a:solidFill>
                <a:latin typeface="PingFang TC"/>
                <a:ea typeface="PingFang TC"/>
                <a:cs typeface="PingFang TC"/>
              </a:rPr>
              <a:t>FORECAST-TELLER · 成果報告 · 2026-09-17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以 TimesFM 3.0 零樣本預測台灣流感疫情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CACFC9"/>
                </a:solidFill>
                <a:latin typeface="PingFang TC"/>
                <a:ea typeface="PingFang TC"/>
                <a:cs typeface="PingFang TC"/>
              </a:rPr>
              <a:t>資料管線、滾動回測、線上 Dashboard：從疾管署監測資料到每週 1–4 週預測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B4C9B1"/>
                </a:solidFill>
                <a:latin typeface="PingFang TC"/>
                <a:ea typeface="PingFang TC"/>
                <a:cs typeface="PingFang TC"/>
              </a:rPr>
              <a:t>415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ACFC9"/>
                </a:solidFill>
                <a:latin typeface="PingFang TC"/>
                <a:ea typeface="PingFang TC"/>
                <a:cs typeface="PingFang TC"/>
              </a:rPr>
              <a:t>個回測起點（2018–2025，每週一個）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B4C9B1"/>
                </a:solidFill>
                <a:latin typeface="PingFang TC"/>
                <a:ea typeface="PingFang TC"/>
                <a:cs typeface="PingFang TC"/>
              </a:rPr>
              <a:t>−26%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46177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ACFC9"/>
                </a:solidFill>
                <a:latin typeface="PingFang TC"/>
                <a:ea typeface="PingFang TC"/>
                <a:cs typeface="PingFang TC"/>
              </a:rPr>
              <a:t>最佳設定 WIS 相對 naive（COVID 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B4C9B1"/>
                </a:solidFill>
                <a:latin typeface="PingFang TC"/>
                <a:ea typeface="PingFang TC"/>
                <a:cs typeface="PingFang TC"/>
              </a:rPr>
              <a:t>0.82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46177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ACFC9"/>
                </a:solidFill>
                <a:latin typeface="PingFang TC"/>
                <a:ea typeface="PingFang TC"/>
                <a:cs typeface="PingFang TC"/>
              </a:rPr>
              <a:t>80% 預測區間實際涵蓋率（理想 0.80）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B4C9B1"/>
                </a:solidFill>
                <a:latin typeface="PingFang TC"/>
                <a:ea typeface="PingFang TC"/>
                <a:cs typeface="PingFang TC"/>
              </a:rPr>
              <a:t>0.68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6177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ACFC9"/>
                </a:solidFill>
                <a:latin typeface="PingFang TC"/>
                <a:ea typeface="PingFang TC"/>
                <a:cs typeface="PingFang TC"/>
              </a:rPr>
              <a:t>方向命中率（naive 退化為 0.45）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A2ABA0"/>
                </a:solidFill>
                <a:latin typeface="PingFang TC"/>
                <a:ea typeface="PingFang TC"/>
                <a:cs typeface="PingFang TC"/>
              </a:rPr>
              <a:t>Google TimesFM 3.0（330M，零樣本、未微調）· 健保、RODS、NIDDS、LARS 實驗室自動通報週資料 · drhao.github.io/forecast-teller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01 · 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資料與方法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五個疾管署監測來源對齊成週資料面板，TimesFM 3.0 零樣本預測，逐層加入共變數與多變量聯合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760720" cy="370332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資料來源（疫情週，Big5 CSV → 自動偵測不完整週）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03120"/>
          <a:ext cx="5349240" cy="2304288"/>
        </p:xfrm>
        <a:graphic>
          <a:graphicData uri="http://schemas.openxmlformats.org/drawingml/2006/table">
            <a:tbl>
              <a:tblPr firstRow="0" bandRow="0"/>
              <a:tblGrid>
                <a:gridCol w="1508760"/>
                <a:gridCol w="2743200"/>
                <a:gridCol w="1097280"/>
              </a:tblGrid>
              <a:tr h="384048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來源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內容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期間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健保申報 門診/住院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類流感（48X）、流感（487）就診人次、總人次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2005–2026w36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健保申報 急診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同上，急診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2016–2026w36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RODS 即時疫情監視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急診類流感人次、百分比（234 家醫院）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2009–2026w36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NIDDS 法定傳染病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流感併發重症確定病例（發病週）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2003–2026w33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LARS 實驗室自動通報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A/B 型陽性數、檢驗件數、陽性率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2015–2026w36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5720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22 縣市 × 19 年齡層皆有分解；假日檔（春節、平日假日天數）延伸至 2026 年底；頭尾不完整週與 NIDDS 隱性零值自動處理。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1664208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2763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TimesFM 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Google 時間序列基礎模型，330M 參數，零樣本、不微調；一次輸出 9 個分位數（q10–q90）。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2414016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774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已知未來共變數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70048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春節週旗標、每週平日假日天數、季節相位；假日天數是最有用的變數。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163824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1272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多變量聯合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419856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門診 + 急診 + RODS + 重症四個序列一起預測（變數注意力），22 縣市 / 18 年齡層也各自聯合。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3913631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8770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基準模型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169663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last-value naive、MA3（前 3 週平均）、季節性 naive、AutoETS、Theta。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4663440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62686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回測設計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91947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資料窗 2016–2025（522 週），暖機 2 季，2018w01 起每週一個起點共 415 個，預測 1–4 週；分 COVID 前 / 期 / 後三段。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評估指標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WIS（加權區間分數，主指標）、MAE、MAPE、MASE、80%/60% 區間涵蓋率、方向命中率、±10% 容忍帶命中率、閾值命中率與誤報率（門診以第 75 百分位、RODS 以流行閾值 10%）。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決策規則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以 COVID 後（2023–2025）1–4 週平均 WIS 選定設定，並確認 COVID 前不退步。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台灣流感預測 · 資料：疾管署資料開放平台 · 圖表依《疫情資料視覺化指引》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02 · BACKTEST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回測結果：全國類流感門診人次（COVID 後 2023–2025，h = 1–4）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最佳設定為四變量聯合 + 春節旗標 + 假日天數：WIS 較 last-value naive 低 26%，1–4 週分別 −32% / −29% / −23% / −22%</a:t>
            </a:r>
          </a:p>
        </p:txBody>
      </p:sp>
      <p:pic>
        <p:nvPicPr>
          <p:cNvPr id="5" name="Picture 4" descr="wis_by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852160" cy="308424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29400" y="1645920"/>
          <a:ext cx="4983480" cy="2267712"/>
        </p:xfrm>
        <a:graphic>
          <a:graphicData uri="http://schemas.openxmlformats.org/drawingml/2006/table">
            <a:tbl>
              <a:tblPr firstRow="0" bandRow="0"/>
              <a:tblGrid>
                <a:gridCol w="1691640"/>
                <a:gridCol w="685800"/>
                <a:gridCol w="731520"/>
                <a:gridCol w="640080"/>
                <a:gridCol w="640080"/>
                <a:gridCol w="594360"/>
              </a:tblGrid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設定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WIS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相對 naive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MAPE %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80% 涵蓋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方向命中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四變量聯合＋春節＋假日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6,857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10.5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單變量＋春節＋假日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7,065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10.9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0.79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TimesFM zero-shot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7,762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12.2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AutoETS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8,861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0.96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13.5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0.79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last-value naive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9,205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1.00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13.1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MA3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9,746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1.06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14.0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季節性 naive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22,846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2.48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36.7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0.50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402336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COVID 前（2018–2019）最佳設定 WIS 4,262，相對 naive −36%；各分段結論一致。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零樣本已勝過統計基準　</a:t>
            </a:r>
            <a:r>
              <a:rPr sz="11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不加任何共變數的 TimesFM，WIS 比 naive 低 16%、比 AutoETS 低 12%；季節性 naive 因季節位移與 COVID 斷層失效（MASE 1.17）。</a:t>
            </a:r>
          </a:p>
          <a:p>
            <a:pPr algn="l" marL="201168" indent="-201168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假日天數是最有用的共變數　</a:t>
            </a:r>
            <a:r>
              <a:rPr sz="11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加入平日假日天數與春節旗標後 1 週前 WIS 再降約 17%；季節相位、log1p、對稱平均、滑動視窗都沒有幫助。</a:t>
            </a:r>
          </a:p>
          <a:p>
            <a:pPr algn="l" marL="201168" indent="-201168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多變量聯合在每個 horizon 都最好　</a:t>
            </a:r>
            <a:r>
              <a:rPr sz="11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80% 區間涵蓋率 0.82、60% 涵蓋率 0.62，校準良好；高流行週中位數偏低 2–8%，屬保守。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台灣流感預測 · 資料：疾管署資料開放平台 · 圖表依《疫情資料視覺化指引》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03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延伸驗證與命中率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同一套設定在急診人次、RODS 急診%、22 縣市與 18 年齡層都優於基準；方向與閾值命中率高於 naive</a:t>
            </a:r>
          </a:p>
        </p:txBody>
      </p:sp>
      <p:pic>
        <p:nvPicPr>
          <p:cNvPr id="5" name="Picture 4" descr="backtest_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583680" cy="3202871"/>
          </a:xfrm>
          <a:prstGeom prst="rect">
            <a:avLst/>
          </a:prstGeom>
        </p:spPr>
      </p:pic>
      <p:pic>
        <p:nvPicPr>
          <p:cNvPr id="6" name="Picture 5" descr="county_r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54480"/>
            <a:ext cx="4004017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00600"/>
            <a:ext cx="6766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全國類流感急診人次（健保）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最佳同為四變量聯合＋春節＋假日：WIS 656，相對 naive 0.70，MAPE 10.4%，80% 涵蓋率 0.81。</a:t>
            </a:r>
          </a:p>
          <a:p>
            <a:pPr algn="l" marL="201168" indent="-201168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RODS 急診類流感%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最佳 WIS 0.63 個百分點，相對 naive 0.88；以流行閾值 10% 計，閾值命中率（敏感度）0.92、誤報率 0.26（naive 0.89 / 0.30）。</a:t>
            </a:r>
          </a:p>
          <a:p>
            <a:pPr algn="l" marL="201168" indent="-201168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縣市與年齡層聯合預測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22 縣市總 WIS 相對逐縣市 naive 0.86（每個縣市都 &lt; 1，右圖）；18 年齡層 0.83。</a:t>
            </a:r>
          </a:p>
          <a:p>
            <a:pPr algn="l" marL="201168" indent="-201168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命中率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門診最佳設定方向命中率 0.68（1 週前 0.69），三分類（漲/持平/跌）0.49，±10% 容忍帶 0.63；ETS 與 Theta 的方向命中率僅 0.4 左右。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台灣流感預測 · 資料：疾管署資料開放平台 · 圖表依《疫情資料視覺化指引》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04 · LATEST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目前疫情與最新預測（資料至 202636，2026-09-06 起的一週）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夏末流感波正在上升；每週預測頁頂部的判讀由程式依最新資料與分位數自動生成</a:t>
            </a:r>
          </a:p>
        </p:txBody>
      </p:sp>
      <p:pic>
        <p:nvPicPr>
          <p:cNvPr id="5" name="Picture 4" descr="latest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675120" cy="32473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554480"/>
            <a:ext cx="4114800" cy="141732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645920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疫情處於上升期、活動度高：門診人次較前一週 +18%，RODS 急診類流感% 12.0%（連續 7 週高於流行閾值）；模型預期第 2 週（2026-09-20 起）前後觸頂，之後緩降，下週續升機率約 75%。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1546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類流感門診 4 週中位數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3741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129,534 → 140,864 → 139,316 → 132,976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63931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第 1 週 80% 區間 115,472–144,328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86791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RODS 急診類流感%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0873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12.4 → 12.9 → 12.7 → 12.4 %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35254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維持在 10% 以上的機率約 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581144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類流感急診人次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800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11,896 → 13,052 → 13,879 → 12,729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06577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高點落在第 3 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29437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流感併發重症（起點 202633）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5138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65 → 61 → 57 → 54 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77900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通報延遲約 3 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6675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目前趨勢　</a:t>
            </a:r>
            <a:r>
              <a:rPr sz="10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全國類流感門診 202636（2026-09-06 起）為 122,247 人次、就診率 2.15%，較前一週快速上升（+18.1%），較 3 週前 +43%，已連續 3 週上升；與前三年同一週相比（平均 76,588）為 1.6 倍，在 2016 年以來所有週中位於第 97 百分位。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提醒　</a:t>
            </a:r>
            <a:r>
              <a:rPr sz="10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預測範圍內含平日假日：202638（中秋節）；202639（孔子誕辰紀念日/教師節）；202640（補假），門診量會因休診下降、急診相對上升，模型已透過假日天數共變數納入。 回測（2016–2025）顯示模型在高流行週的中位數偏低 2–8%，上升期解讀請參考區間上緣；1–2 週的預測最可靠。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台灣流感預測 · 資料：疾管署資料開放平台 · 圖表依《疫情資料視覺化指引》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05 · DASHBOARD &amp;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線上 Dashboard、限制與下一步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GitHub Pages 靜態站台，每週一個指令更新；模型權重授權與申報回補是主要注意事項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566160" cy="38862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線上 Dashboard（GitHub Pages）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1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每週預測　</a:t>
            </a: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drhao.github.io/forecast-teller/：趨勢判讀、KPI、四項指標扇形圖（60%/80% 區間）、分位數表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1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回測　</a:t>
            </a: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/backtest.html：三個目標序列、可排序排行榜、WIS/命中率/涵蓋率依 horizon、1–4 週前預測 vs 實際、縣市與年齡層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1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報告　</a:t>
            </a: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/report.html：一頁式解讀與評估報告（可列印）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1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每週更新　</a:t>
            </a: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資料放入 data/ → scripts/weekly_update.sh --push（建面板、預測、重建站台、推送）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600200"/>
            <a:ext cx="3566160" cy="388620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737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限制與注意事項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194560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TimesFM 3.0 權重為非商業、非生產用途授權；正式上線需改用 2.5（Apache-2.0）或另取授權。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健保申報有回補，最近 1–2 週低報；管線自動排除不完整週，正式使用應以首報/終報比值校正。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高流行週中位數偏低 2–8%，上升期請看區間上緣；3–4 週預測僅供規劃。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回測窗只有十年，最早起點僅兩季暖機；閾值以整段資料的分位數決定，含少量事後資訊。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600200"/>
            <a:ext cx="3566160" cy="388620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37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下一步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194560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TimesFM 與 ETS 的簡單集成，看是否穩定尾端風險。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健保申報回補的即時校正（nowcasting）。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季節峰值時間與高度的專門評估指標。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評估 TimesFM 2.5 LoRA 微調是否值得；納入更多目標（型別、年齡層即時預測）。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假日檔改為每年由官方辦公日曆表自動更新。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1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加入合約實驗室的病毒監測資料（目前實驗室資料來自 LARS）。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程式碼與流程　</a:t>
            </a:r>
            <a:r>
              <a:rPr sz="11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github.com/drhao/forecast-teller（程式 Apache-2.0；原始資料不入版控）· 模型權重 google/timesfm-3.0-pytorch（非商業授權）· 回測結果與逐起點預測皆可重現（outputs/backtest/*.parquet）。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台灣流感預測 · 資料：疾管署資料開放平台 · 圖表依《疫情資料視覺化指引》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