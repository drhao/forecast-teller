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兩條工作線共用核心模組與回測設計；流感用內部週資料，腸病毒用資料開放平台。重點：零樣本、可驗證、每週自動更新。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模型完全零樣本；所有比較在同一組 415 個起點上；COVID 期（2020–2022）不做決策依據但保留在 context。RESP_LAB 回測顯示當共變數反而變差，所以只用在敘事。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圖：WIS 隨 horizon 上升，但最佳設定在每個 horizon 都低於基準。表：MAPE 10.5% 對 naive 13.1%。強調校準：涵蓋率接近名目值。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左圖：1 週前預測貼合實際，區間涵蓋大多數週，2025 年初春節週的極端下降只被部分捕捉。右圖：22 縣市聯合預測每個縣市都優於 naive，離島增益最小。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說明這是自動判讀：規則從最新面板與 9 個分位數推得走勢形狀、續升機率與閾值機率。即時評估來自 outputs/forecast_log/，每週累積。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強調兩點差異：急診用 RODS 代替，閾值依年手動記錄。流行期規則與閾值都標「待確認」。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腸病毒波形逐年不同，季節性 naive 失效是這條線最重要的背景。零樣本已贏基準，共變數再補一點。涵蓋率偏窄要講清楚。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閾值命中率就是「下週會不會進入流行期」的敏感度；誤報率是低於閾值卻預測達標的比例。2024 年是回測窗內最高的腸病毒年，WIS 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這是腸病毒第一筆真正的即時評估：1 週前準、2 週前高估，因為上升被打斷。預測紀錄每週累積在 ev_forecast/outputs/forecast_log/。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FORECAST-TELLER · 回測與預測成果 · 2026-10-02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以 TimesFM 3.0 零樣本預測台灣流感與腸病毒疫情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同一套資料管線與滾動回測，兩條每週更新的線上預測：類流感門急診（流感）與門急診合計（腸病毒）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415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個回測起點（2017w52–2025w49，每週一個）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−26%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45262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流感門診最佳設定 WIS 相對 naive（COVID 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−19%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45262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腸病毒門急診最佳設定 WIS 相對 naive（COVID 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C9B1"/>
                </a:solidFill>
                <a:latin typeface="PingFang TC"/>
                <a:ea typeface="PingFang TC"/>
                <a:cs typeface="PingFang TC"/>
              </a:rPr>
              <a:t>0.82 / 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5262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ACFC9"/>
                </a:solidFill>
                <a:latin typeface="PingFang TC"/>
                <a:ea typeface="PingFang TC"/>
                <a:cs typeface="PingFang TC"/>
              </a:rPr>
              <a:t>80% 預測區間實際涵蓋率（流感 / 腸病毒，理想 0.80）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A2ABA0"/>
                </a:solidFill>
                <a:latin typeface="PingFang TC"/>
                <a:ea typeface="PingFang TC"/>
                <a:cs typeface="PingFang TC"/>
              </a:rPr>
              <a:t>Google TimesFM 3.0（330M 參數，零樣本、未微調，一次輸出 9 個分位數）· 疾管署健保、RODS、NIDDS、LARS 週資料與資料開放平台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A2ABA0"/>
                </a:solidFill>
                <a:latin typeface="PingFang TC"/>
                <a:ea typeface="PingFang TC"/>
                <a:cs typeface="PingFang TC"/>
              </a:rPr>
              <a:t>drhao.github.io/forecast-teller（流感）· drhao.github.io/forecast-teller/ev/（腸病毒）· 每週更新並留存預測紀錄供事後評估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流感 01 · 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流感：資料與方法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五個疾管署監測來源對齊成週資料面板，TimesFM 3.0 零樣本預測，逐層加入共變數與多變量聯合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760720" cy="370332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資料來源（疫情週；頭尾不完整週自動排除）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03120"/>
          <a:ext cx="5349240" cy="256032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2697480"/>
                <a:gridCol w="1051560"/>
              </a:tblGrid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來源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完整週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健保申報 門診/住院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類流感（48X）、流感（487）就診人次、總人次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2005–2026w38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健保申報 急診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同上，急診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2016–2026w38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RODS 即時疫情監視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急診類流感人次、百分比（234 家醫院）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2009–2026w38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NIDDS 法定傳染病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流感併發重症確定病例（發病週，多排除 3 週）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2003–2026w35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LARS 實驗室自動通報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A/B 型陽性數、檢驗件數、陽性率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2015–2026w38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RESP_LAB 社區合約實驗室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呼吸道病原體 PCR（NIDSS 網站抓取）；只用於敘事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2025–2026w36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7548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22 縣市 × 19 年齡層皆有分解；假日檔（春節、平日假日天數）延伸至 2026 年底；NIDDS 隱性零值自動補 0。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1664208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276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TimesFM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Google 時間序列基礎模型，330M 參數，零樣本、不微調；一次輸出 9 個分位數（q10–q90）。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414016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已知未來共變數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7004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春節週旗標、每週平日假日天數（最有用）；季節相位、log1p、對稱平均、滑動視窗皆無幫助。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163824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27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多變量聯合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41985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門診 + 急診 + RODS + 重症四個序列一起預測（變數注意力）；22 縣市 / 18 年齡層也各自聯合。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913631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770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基準模型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9663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last-value naive、MA3（前 3 週平均）、季節性 naive、AutoETS、Theta；分位數為中位數置中的經驗誤差。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663440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268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回測設計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9194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資料窗 2016w01–2025w53（522 週），暖機 104 週，每週一個起點共 415 個，預測 1–4 週；分 COVID 前 / 期 / 後三段。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評估指標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WIS（加權區間分數，主指標）、MAE、MAPE、MASE、80%/60% 區間涵蓋率、方向命中率、±10% 容忍帶命中率、閾值命中率與誤報率（門診以第 75 百分位、RODS 以流行閾值 11%）。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決策規則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以 COVID 後（2023–2025）1–4 週平均 WIS 選定設定，並確認 COVID 前不退步。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流感 02 ·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流感：回測結果（全國類流感門診人次，COVID 後 2023–2025，h = 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最佳設定為四變量聯合 + 春節旗標 + 假日天數：WIS 較 last-value naive 低 26%，1–4 週分別 −32% / −29% / −23% / −22%</a:t>
            </a:r>
          </a:p>
        </p:txBody>
      </p:sp>
      <p:pic>
        <p:nvPicPr>
          <p:cNvPr id="5" name="Picture 4" descr="wis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08424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645920"/>
          <a:ext cx="4983480" cy="2267712"/>
        </p:xfrm>
        <a:graphic>
          <a:graphicData uri="http://schemas.openxmlformats.org/drawingml/2006/table">
            <a:tbl>
              <a:tblPr firstRow="0" bandRow="0"/>
              <a:tblGrid>
                <a:gridCol w="1691640"/>
                <a:gridCol w="685800"/>
                <a:gridCol w="731520"/>
                <a:gridCol w="640080"/>
                <a:gridCol w="640080"/>
                <a:gridCol w="594360"/>
              </a:tblGrid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設定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WIS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相對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MAPE %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80% 涵蓋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方向命中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四變量聯合＋春節＋假日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6,857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10.5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單變量＋春節＋假日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7,065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10.9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TimesFM zero-shot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7,762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12.2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AutoETS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8,861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0.96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13.5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last-value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9,205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13.1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9,746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14.0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季節性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22,846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2.48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36.7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0.50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40233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COVID 前（2018–2019）最佳設定 WIS 4,482，相對 naive −32%；各分段結論一致。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零樣本已勝過統計基準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不加任何共變數的 TimesFM，WIS 比 naive 低 16%、比 AutoETS 低 12%；季節性 naive 因季節位移與 COVID 斷層失效（MASE 1.17）。</a:t>
            </a:r>
          </a:p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假日天數是最有用的共變數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加入平日假日天數與春節旗標後 WIS 再降至 naive 的 0.77；季節相位、log1p、對稱平均、滑動視窗都沒有幫助。</a:t>
            </a:r>
          </a:p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多變量聯合在每個 horizon 都最好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80% 區間涵蓋率 0.82、60% 涵蓋率 0.62，校準良好；高流行週中位數偏低 2–8%，屬保守。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流感 03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流感：延伸驗證與命中率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同一套設定在急診人次、RODS 急診%、22 縣市與 18 年齡層都優於基準；方向與閾值命中率高於 naive</a:t>
            </a:r>
          </a:p>
        </p:txBody>
      </p:sp>
      <p:pic>
        <p:nvPicPr>
          <p:cNvPr id="5" name="Picture 4" descr="backtest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3202871"/>
          </a:xfrm>
          <a:prstGeom prst="rect">
            <a:avLst/>
          </a:prstGeom>
        </p:spPr>
      </p:pic>
      <p:pic>
        <p:nvPicPr>
          <p:cNvPr id="6" name="Picture 5" descr="county_r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04017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00600"/>
            <a:ext cx="6766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全國類流感急診人次（健保）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最佳同為四變量聯合＋春節＋假日：WIS 656，相對 naive 0.70，MAPE 10.4%，80% 涵蓋率 0.81。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RODS 急診類流感%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最佳 WIS 0.63 個百分點，相對 naive 0.88；以流行閾值 11% 計，閾值命中率（敏感度）0.82、誤報率 0.19（naive 0.78 / 0.24）。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縣市與年齡層聯合預測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22 縣市總 WIS 相對逐縣市 naive 0.86（每個縣市都 &lt; 1，右圖）；18 年齡層 0.83。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命中率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門診最佳設定方向命中率 0.68（1 週前 0.69），三分類（漲/持平/跌）0.49，±10% 容忍帶 0.63；閾值命中率 0.85、誤報率 0.17（naive 0.82 / 0.17）。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流感 04 · LATEST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流感：最新預測與即時評估（資料至 202638，2026-09-20 起的一週）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每週預測頁的判讀由程式依最新資料與分位數自動生成；每次預測都存檔，隔週與實際值比對</a:t>
            </a:r>
          </a:p>
        </p:txBody>
      </p:sp>
      <p:pic>
        <p:nvPicPr>
          <p:cNvPr id="5" name="Picture 4" descr="late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75120" cy="32473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554480"/>
            <a:ext cx="4114800" cy="141732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4592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疫情處於高原期、活動度高：門診人次較前一週 -4%，RODS 急診類流感% 12.2%（連續 4 週高於流行閾值）；模型預期未來 4 週持續下降，下週續升機率約 45%。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546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類流感門診 4 週中位數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741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121,209 → 114,586 → 113,944 → 105,090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63931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第 1 週 80% 區間 110,749–132,203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86791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門急診合計（門診 + 急診）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87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134,260 → 127,108 → 125,356 → 115,765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3525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起點週實際 134,832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58114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RODS 急診類流感%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800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12.2 → 12.2 → 11.8 → 11.6 %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06577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維持在流行閾值 11% 以上的機率第 1 週約 95%、第 4 週約 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29437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流感併發重症（起點 202635）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5138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103 → 99 → 93 → 87 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77900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發病週計，通報延遲約 3 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6675120" cy="146304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19472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即時評估（起點 202636 的預測，2026-09-17 發布）　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1 週前（目標 202637）：門診預測 129,534、實際 127,355（誤差 1.7%）；急診 11,896 對 11,722（1.5%）；RODS% 12.4 對 11.8（4.4%）。三者都落在 80% 區間內。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2 週前（目標 202638）：門診預測 140,864、實際 122,060（高估 15%，仍在 80% 區間內）。202638 的健保總就診人次比前週少 12%，疑似申報未齊，下次更新可能上修。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提醒　</a:t>
            </a:r>
            <a:r>
              <a:rPr sz="9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回測（2016–2025）顯示模型在高流行週的中位數偏低 2–8%，上升期解讀請參考區間上緣；1–2 週的預測最可靠。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腸病毒 01 · 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腸病毒：資料、流行閾值與方法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資料開放平台的健保門診與 RODS 急診腸病毒週人次；流行閾值依年記錄；同一套 TimesFM 3.0 零樣本回測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760720" cy="370332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資料來源（資料開放平台，每週自動下載）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03120"/>
          <a:ext cx="5349240" cy="1682496"/>
        </p:xfrm>
        <a:graphic>
          <a:graphicData uri="http://schemas.openxmlformats.org/drawingml/2006/table">
            <a:tbl>
              <a:tblPr firstRow="0" bandRow="0"/>
              <a:tblGrid>
                <a:gridCol w="1417320"/>
                <a:gridCol w="2880360"/>
                <a:gridCol w="1051560"/>
              </a:tblGrid>
              <a:tr h="420624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來源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完整週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420624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健保申報 門診/住院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腸病毒就診人次、總人次；9 個年齡層、22 縣市（無急診檔）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2016–2026w38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RODS 急診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腸病毒就診人次（無分母，分母借用流感面板的 RODS 總人次）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2007–2026w38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門急診合計 ev_oe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健保門診 + RODS 急診；急診暫以 RODS 代替健保急診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3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流行期指標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38404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8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流行閾值（每年由疾管署設定）　</a:t>
            </a:r>
            <a:r>
              <a:rPr sz="98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2016–2025 年 11,000 人次（4 年有新聞稿確認、6 年推定）、2026 年 12,000 人次；記錄於 ev_forecast/data/thresholds.csv，每年手動更新。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8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流行期規則（暫定）　</a:t>
            </a:r>
            <a:r>
              <a:rPr sz="98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單週達閾值即進入、連續 2 週低於即脫離；近年流行期：2023w44–2023w47、2024w16–2025w03、2025w45–2025w50。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8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與新聞稿公布值比較　</a:t>
            </a:r>
            <a:r>
              <a:rPr sz="98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本合成指標在 2016–2023 年偏低 2–9%，2024 年後在 −2% 至 +6% 內（新聞稿為首報值，開放資料為回補後）。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1664208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276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與流感相同的骨幹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TimesFM 3.0 零樣本、9 個分位數；同一組 415 個起點（2018–2025 每週）、同一套基準與指標。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414016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77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腸病毒專屬共變數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70048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學校行事曆（暑假 7/1–8/29、寒假、開學前兩週）與平日假日天數；春節旗標改為學校行事曆。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163824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272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多變量聯合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41985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門急診合計 + 門診 + RODS 三序列聯合（變數注意力）；加入住院無進一步增益。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3913631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770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波形特徵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9663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一年兩波、波形逐年不同；季節性 naive 幾乎無用（WIS 約 naive 的 4 倍），所以不能靠「去年同週」。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663440"/>
            <a:ext cx="329184" cy="329184"/>
          </a:xfrm>
          <a:prstGeom prst="ellipse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268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閾值評估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9194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以各年流行閾值計閾值命中率（敏感度）與誤報率，直接對應流行期判定的實務需求。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BE373C"/>
                </a:solidFill>
                <a:latin typeface="PingFang TC"/>
                <a:ea typeface="PingFang TC"/>
                <a:cs typeface="PingFang TC"/>
              </a:rPr>
              <a:t>待確認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閾值與流行期規則來自新聞稿，尚待與疾管署定義核對；取得健保急診腸病毒檔後，急診部分應改用健保急診並重跑回測。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資料開放平台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od.cdc.gov.tw 憑證鏈缺中繼憑證，下載腳本已內建修法；每週 refresh_data.sh 自動下載。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腸病毒 02 ·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腸病毒：回測結果（門急診合計，COVID 後 2023–2025，h = 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最佳設定為三變量聯合 + 學校行事曆 + 假日天數：WIS 較 last-value naive 低 19%，1–4 週分別 −21% / −20% / −18% / −17%</a:t>
            </a:r>
          </a:p>
        </p:txBody>
      </p:sp>
      <p:pic>
        <p:nvPicPr>
          <p:cNvPr id="5" name="Picture 4" descr="ev_wis_by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08424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645920"/>
          <a:ext cx="4983480" cy="2267712"/>
        </p:xfrm>
        <a:graphic>
          <a:graphicData uri="http://schemas.openxmlformats.org/drawingml/2006/table">
            <a:tbl>
              <a:tblPr firstRow="0" bandRow="0"/>
              <a:tblGrid>
                <a:gridCol w="1691640"/>
                <a:gridCol w="685800"/>
                <a:gridCol w="731520"/>
                <a:gridCol w="640080"/>
                <a:gridCol w="640080"/>
                <a:gridCol w="594360"/>
              </a:tblGrid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設定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WIS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相對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MAPE %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80% 涵蓋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方向命中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三變量聯合＋學校＋假日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1,105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15.3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單變量＋學校＋假日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1,115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15.5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TimesFM zero-shot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1,160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16.8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AutoETS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1,293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0.95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18.7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0.34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last-value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1,358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18.7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1,604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1.18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22.0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0.33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季節性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5,375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3.96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81.9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0.50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402336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COVID 前（2018–2019）最佳設定 WIS 868，相對 naive −31%；結論一致。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零樣本單變量已比基準好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無共變數的 TimesFM WIS 為 naive 的 0.85、AutoETS 0.95、MA3 1.18；季節性 naive 3.96（去年同週完全不可用）。</a:t>
            </a:r>
          </a:p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共變數與聯合的增益比流感小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學校行事曆 + 假日把 WIS 降到 naive 的 0.82，三變量聯合再到 0.81；MAPE 15.3%（naive 18.7%）。</a:t>
            </a:r>
          </a:p>
          <a:p>
            <a:pPr algn="l" marL="201168" indent="-201168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區間偏窄　</a:t>
            </a:r>
            <a:r>
              <a:rPr sz="110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80% 涵蓋率 0.75、60% 涵蓋率 0.54，低於名目值；解讀時區間要放寬一些，區間校正列為下一步。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腸病毒 03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腸病毒：流行閾值命中與 1 週前預測 vs 實際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以各年流行閾值評估「下週是否達閾值」的命中率與誤報率；逐年 WIS 顯示 2024 年高峰季最難</a:t>
            </a:r>
          </a:p>
        </p:txBody>
      </p:sp>
      <p:pic>
        <p:nvPicPr>
          <p:cNvPr id="5" name="Picture 4" descr="ev_backtest_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320287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600200"/>
          <a:ext cx="4206240" cy="164592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685800"/>
                <a:gridCol w="548640"/>
                <a:gridCol w="548640"/>
                <a:gridCol w="502920"/>
                <a:gridCol w="457200"/>
              </a:tblGrid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設定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閾值命中率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誤報率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方向命中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三分類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±10%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三變量聯合＋學校＋假日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0.55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單變量＋學校＋假日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0.71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0.53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0.48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TimesFM zero-shot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0.69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0.51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0.46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AutoETS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0.13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0.34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0.22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last-value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0.80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0.13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0.22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0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33375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閾值 = 各年流行閾值（回測窗內均為 11,000 人次），COVID 後 h = 1–4 平均。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3749039"/>
          <a:ext cx="4206240" cy="109728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914400"/>
                <a:gridCol w="914400"/>
                <a:gridCol w="914400"/>
              </a:tblGrid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 週前 WIS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2023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2024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1">
                          <a:solidFill>
                            <a:srgbClr val="5D675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2025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2F3F1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1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最佳設定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395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807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424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6F9F6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last-value naive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484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1,064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510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AutoETS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532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964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950" b="0">
                          <a:solidFill>
                            <a:srgbClr val="2C312B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512</a:t>
                      </a: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E7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4632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閾值命中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最佳設定閾值命中率 0.84、誤報率 0.08；naive 為 0.80 / 0.13。COVID 前更高（命中 0.94、誤報 0.07）。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方向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方向命中率 0.71，統計基準只有 0.33–0.40（接近隨機）；三分類 0.55、±10% 容忍帶 0.48。</a:t>
            </a:r>
          </a:p>
          <a:p>
            <a:pPr algn="l" marL="201168" indent="-201168">
              <a:lnSpc>
                <a:spcPct val="110000"/>
              </a:lnSpc>
              <a:spcAft>
                <a:spcPts val="400"/>
              </a:spcAft>
              <a:buChar char="•"/>
            </a:pPr>
            <a:r>
              <a:rPr sz="10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左圖　</a:t>
            </a:r>
            <a:r>
              <a:rPr sz="10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1 週前中位數貼合實際，紅色虛線為流行閾值；上升段起點（2024 年春、2025 年秋）略為落後 1 週，峰值略偏低。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D7F58"/>
                </a:solidFill>
                <a:latin typeface="PingFang TC"/>
                <a:ea typeface="PingFang TC"/>
                <a:cs typeface="PingFang TC"/>
              </a:rPr>
              <a:t>腸病毒 04 · LATEST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腸病毒：最新預測與即時評估（資料至 202638，2026-09-20 起的一週）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門急診合計對流行閾值的機率判讀由程式自動生成；起點 202636 的預測已與兩週實際值比對</a:t>
            </a:r>
          </a:p>
        </p:txBody>
      </p:sp>
      <p:pic>
        <p:nvPicPr>
          <p:cNvPr id="5" name="Picture 4" descr="ev_late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75120" cy="32473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554480"/>
            <a:ext cx="4114800" cy="1417320"/>
          </a:xfrm>
          <a:prstGeom prst="rect">
            <a:avLst/>
          </a:prstGeom>
          <a:solidFill>
            <a:srgbClr val="F6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45920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腸病毒疫情處於低度活動、活動度中等：門急診合計 9,945 人次，較前一週 -5%，未達 2026 年流行閾值 12,000 人次；模型預期未來 4 週大致持平，第 4 週高於閾值的機率約 30%。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546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門急診合計 4 週中位數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3741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9,761 → 9,699 → 10,087 → 10,647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63931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第 1 週 80% 區間 8,838–11,019；起點週實際 9,945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86791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達流行閾值 12,000 人次的機率（第 1–4 週）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87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5% → 5% → 20% →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3525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依 9 個分位數內插；4 週內中位數都未達閾值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58114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健保門診 4 週中位數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800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9,270 → 9,205 → 9,619 → 10,181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06577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RODS 急診 503 → 538 → 490 → 499 人次（聯合預測的另外兩個序列）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29437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門診年齡分布（起點週）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5138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81B18"/>
                </a:solidFill>
                <a:latin typeface="PingFang TC"/>
                <a:ea typeface="PingFang TC"/>
                <a:cs typeface="PingFang TC"/>
              </a:rPr>
              <a:t>0–2 歲 37%、3–6 歲 32%、7–12 歲 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77900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D675B"/>
                </a:solidFill>
                <a:latin typeface="PingFang TC"/>
                <a:ea typeface="PingFang TC"/>
                <a:cs typeface="PingFang TC"/>
              </a:rPr>
              <a:t>4 週變化 +26% / +23% / +73%；開學後學齡兒童上升最快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6675120" cy="146304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19472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即時評估（起點 202636 的預測，2026-09-19 發布）　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當時預測門急診合計會由 11,113 升到 12,866、第 4 週達閾值機率約 60%。1 週前（目標 202637）：預測 11,113、實際 10,502（誤差 5.8%，在 80% 區間內）；2 週前（目標 202638）：預測 11,643、實際 9,945（高估 17%，落在 80% 區間外）。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解讀　</a:t>
            </a:r>
            <a:r>
              <a:rPr sz="9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上升趨勢在 202638 中斷，模型對轉折的反應慢 1 週，與回測結論一致；202638 的健保總就診人次比前週少 12%，門診腸病毒人次可能有一部分是申報未齊。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253423"/>
                </a:solidFill>
                <a:latin typeface="PingFang TC"/>
                <a:ea typeface="PingFang TC"/>
                <a:cs typeface="PingFang TC"/>
              </a:rPr>
              <a:t>提醒　</a:t>
            </a:r>
            <a:r>
              <a:rPr sz="950" b="0">
                <a:solidFill>
                  <a:srgbClr val="444C43"/>
                </a:solidFill>
                <a:latin typeface="PingFang TC"/>
                <a:ea typeface="PingFang TC"/>
                <a:cs typeface="PingFang TC"/>
              </a:rPr>
              <a:t>急診部分暫以 RODS 人次代替健保急診；健保申報有回補，最近一週的觀測值日後可能上修；本頁所有判讀由程式依規則自動產生。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forecast-teller · TimesFM 3.0 台灣流感與腸病毒預測 · 資料：疾管署（健保、RODS、NIDDS、LARS；資料開放平台）· 圖表依《疫情資料視覺化指引》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7A8778"/>
                </a:solidFill>
                <a:latin typeface="PingFang TC"/>
                <a:ea typeface="PingFang TC"/>
                <a:cs typeface="PingFang TC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